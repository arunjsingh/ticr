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63" r:id="rId7"/>
    <p:sldId id="264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4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2532-007C-0ED7-639A-2859B2FD2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9EF8A-5794-780D-36AF-56DA06A79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5935C-D235-8724-17EB-D3E7A8D4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38916-BBB5-0649-079A-C423899A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DF7A2-2BF7-664A-3BB3-E6739B9E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4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2AD6-98F2-3AF5-63B5-5DD15E70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79DE3-2E11-8F5E-C912-B26B919E1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BFE04-4EC1-5125-8920-B0CF66A2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20D50-E5DA-FF40-EB8B-91FCEA1E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9558C-F06D-E8C4-CE30-1573AEE2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1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8800-1002-EBA3-6589-7822DB5C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E327F-E2D7-3600-67E6-ACE26C91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7CFC3-3B34-4314-AF94-C5E98FB4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AB6FA-B783-1C06-CE94-05873426E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DA519-D622-A4A2-EBE1-02E01B83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2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5FDB-25AF-0BA4-8367-9680AF04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6EBC1-4AA2-5A3B-F83B-342181D91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E10A3-B034-B4EC-48F8-C8B59FD7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B1AF9-8A2D-62BC-935E-F9B9611B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0FF1C-6D99-DB5B-847D-2B961775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3CE54-CEB5-3DB0-FF4F-C782BD20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5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10C3-692B-2150-2414-D7FCCD27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872D6-8C95-8D11-14C5-D876F16CC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624F2-8CCA-4F9C-C84D-C159EAE41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44393-C9CA-0587-F84F-FF1A7F72A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643CC-A16C-E4B6-09C5-DD8F409D0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BD3272-D878-6743-8777-EF7F5421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DEA57-FB3E-3629-B1A2-830AD163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439F4-C5D6-837A-D2E1-8EF72C72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9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AD7C-FCFD-791D-80E4-7E582C01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725B5-1254-6089-7EC2-3661A3DC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5ACAB-7DE9-3835-32D9-4C970A6E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82531-507E-9F5C-1650-5BEC5B67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3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B357C-92E3-100E-1BDF-FBEFD46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2C36E-6E5B-2D73-61C6-7CB57482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6FE97-AF0D-D134-3F3A-10013256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2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754C-A56A-07CD-CEBF-B616672F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4E35-EC6B-49AE-C263-08E64E73E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3D769-7C3C-207B-5FDF-27E13F24D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360BD-2648-02F6-B721-904380C7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CA49-7CB4-71D7-1B26-5630EB56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4105F-BDD1-00EA-E69B-CB650052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0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36C0-5708-F27C-1895-BEC34AE3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FBE68-FCFE-967D-08C1-5CA1CB20F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2EE79-FACE-54E8-26D1-73A04EBCD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A74A5-82CB-9A49-0C0F-6FCD078C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24AA0-9153-993A-1E47-935369D3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68C8-8331-1D52-10B2-072D8ABC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4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9067-00C8-4131-E21F-7B64AFC9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09A01-E175-358E-0CEA-930652E9C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35A66-41EF-C45D-3E18-54B23D55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CFE85-153C-7FD1-7A84-B3B326E9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1EC92-7EED-DDE4-724F-73001505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2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0BB89-27C0-2070-D169-33AD800D2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97481-E7A0-DFD3-1C25-78A812EF4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D1D8-7FAA-B532-51F9-DD7287FA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35638-BC2B-FB5B-0339-E52C233E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87786-580E-E01C-7D77-EF5F9846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BCE2A-B2AE-BF90-B1B9-E0CFA23B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841A4-9C99-1334-D6BA-A4AE9FE7F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EF97-8147-FB81-FDF0-4750B84F8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A57A8-EFC1-4582-88E8-71A2E93F35A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219A4-7477-E892-BD3F-51D9F1D4D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26DD-AF5E-BF5C-79D2-D4206B8B8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3885E-0B62-4AB2-AB09-523AE99D2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1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3622EA-E4F0-D00F-02F2-F6134DE330CA}"/>
              </a:ext>
            </a:extLst>
          </p:cNvPr>
          <p:cNvSpPr txBox="1"/>
          <p:nvPr/>
        </p:nvSpPr>
        <p:spPr>
          <a:xfrm>
            <a:off x="337458" y="391886"/>
            <a:ext cx="563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600" b="1" dirty="0">
                <a:highlight>
                  <a:srgbClr val="00FFFF"/>
                </a:highlight>
              </a:rPr>
              <a:t>CLIENT LAYER</a:t>
            </a:r>
          </a:p>
          <a:p>
            <a:endParaRPr lang="en-US" sz="1600" dirty="0"/>
          </a:p>
          <a:p>
            <a:r>
              <a:rPr lang="en-US" sz="1600" dirty="0"/>
              <a:t>Hiring Manager Portal</a:t>
            </a:r>
          </a:p>
          <a:p>
            <a:r>
              <a:rPr lang="en-US" sz="1600" dirty="0"/>
              <a:t>Resume &amp; JD Upload UI</a:t>
            </a:r>
          </a:p>
          <a:p>
            <a:r>
              <a:rPr lang="en-US" sz="1600" dirty="0"/>
              <a:t>Seniority &amp; Technical Category Selector.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8A12E-A890-6A06-C376-974AF3F3E438}"/>
              </a:ext>
            </a:extLst>
          </p:cNvPr>
          <p:cNvSpPr/>
          <p:nvPr/>
        </p:nvSpPr>
        <p:spPr>
          <a:xfrm>
            <a:off x="210208" y="391886"/>
            <a:ext cx="4582510" cy="1589939"/>
          </a:xfrm>
          <a:prstGeom prst="rect">
            <a:avLst/>
          </a:prstGeom>
          <a:noFill/>
          <a:ln w="349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6"/>
                </a:solidFill>
              </a:ln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301187-2318-1169-2EA9-11E722299690}"/>
              </a:ext>
            </a:extLst>
          </p:cNvPr>
          <p:cNvSpPr txBox="1"/>
          <p:nvPr/>
        </p:nvSpPr>
        <p:spPr>
          <a:xfrm>
            <a:off x="6558455" y="755218"/>
            <a:ext cx="492935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sz="1600" dirty="0">
                <a:highlight>
                  <a:srgbClr val="00FF00"/>
                </a:highlight>
              </a:rPr>
              <a:t>INPUT &amp; ORCHESTRATION LAYER  </a:t>
            </a:r>
          </a:p>
          <a:p>
            <a:endParaRPr lang="en-US" sz="1600" dirty="0"/>
          </a:p>
          <a:p>
            <a:r>
              <a:rPr lang="en-US" sz="1600" dirty="0"/>
              <a:t>[ Data Ingestion ]</a:t>
            </a:r>
          </a:p>
          <a:p>
            <a:r>
              <a:rPr lang="en-US" sz="1600" dirty="0"/>
              <a:t>• PDF/DOCX/Text Parsing</a:t>
            </a:r>
          </a:p>
          <a:p>
            <a:r>
              <a:rPr lang="en-US" sz="1600" dirty="0"/>
              <a:t>• Metadata Extraction</a:t>
            </a:r>
          </a:p>
          <a:p>
            <a:r>
              <a:rPr lang="en-US" sz="1600" dirty="0"/>
              <a:t>• Structure Normalization</a:t>
            </a:r>
          </a:p>
          <a:p>
            <a:endParaRPr lang="en-US" sz="1600" dirty="0"/>
          </a:p>
          <a:p>
            <a:r>
              <a:rPr lang="en-US" sz="1600" dirty="0"/>
              <a:t>[ Seniority &amp; Category Mapping ]</a:t>
            </a:r>
          </a:p>
          <a:p>
            <a:r>
              <a:rPr lang="en-US" sz="1600" dirty="0"/>
              <a:t>• BAH Level Selection</a:t>
            </a:r>
          </a:p>
          <a:p>
            <a:r>
              <a:rPr lang="en-US" sz="1600" dirty="0"/>
              <a:t>• Technical Category Selection</a:t>
            </a:r>
          </a:p>
          <a:p>
            <a:r>
              <a:rPr lang="en-US" sz="1600" dirty="0"/>
              <a:t>• Logic Mapping Engine</a:t>
            </a:r>
          </a:p>
          <a:p>
            <a:endParaRPr lang="en-US" sz="1600" dirty="0"/>
          </a:p>
          <a:p>
            <a:r>
              <a:rPr lang="en-US" sz="1600" dirty="0"/>
              <a:t>[ NLP Extraction &amp; Prompt Builder ]</a:t>
            </a:r>
          </a:p>
          <a:p>
            <a:r>
              <a:rPr lang="en-US" sz="1600" dirty="0"/>
              <a:t>• Resume Skill Extraction</a:t>
            </a:r>
          </a:p>
          <a:p>
            <a:r>
              <a:rPr lang="en-US" sz="1600" dirty="0"/>
              <a:t>• JD Competency Extraction</a:t>
            </a:r>
          </a:p>
          <a:p>
            <a:r>
              <a:rPr lang="en-US" sz="1600" dirty="0"/>
              <a:t>• Difficulty Calibration</a:t>
            </a:r>
          </a:p>
          <a:p>
            <a:r>
              <a:rPr lang="en-US" sz="1600" dirty="0"/>
              <a:t>• Prompt Orchestration for Llama 3.x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FF06B1-57FD-3D0D-211A-699E21A8F67E}"/>
              </a:ext>
            </a:extLst>
          </p:cNvPr>
          <p:cNvSpPr/>
          <p:nvPr/>
        </p:nvSpPr>
        <p:spPr>
          <a:xfrm>
            <a:off x="6463862" y="755218"/>
            <a:ext cx="5236252" cy="4447403"/>
          </a:xfrm>
          <a:prstGeom prst="rect">
            <a:avLst/>
          </a:prstGeom>
          <a:noFill/>
          <a:ln w="3492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AB943-5C77-B5B7-8F0A-7FF45613984E}"/>
              </a:ext>
            </a:extLst>
          </p:cNvPr>
          <p:cNvSpPr txBox="1"/>
          <p:nvPr/>
        </p:nvSpPr>
        <p:spPr>
          <a:xfrm>
            <a:off x="337457" y="2237794"/>
            <a:ext cx="419250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OUTPUT &amp; VERIFICATION LAYER  </a:t>
            </a:r>
          </a:p>
          <a:p>
            <a:r>
              <a:rPr lang="en-US" sz="1600" dirty="0"/>
              <a:t>[ LLM Question Generator ]</a:t>
            </a:r>
          </a:p>
          <a:p>
            <a:r>
              <a:rPr lang="en-US" sz="1600" dirty="0"/>
              <a:t>• Baseline Questions</a:t>
            </a:r>
          </a:p>
          <a:p>
            <a:r>
              <a:rPr lang="en-US" sz="1600" dirty="0"/>
              <a:t>• Probing Questions</a:t>
            </a:r>
          </a:p>
          <a:p>
            <a:r>
              <a:rPr lang="en-US" sz="1600" dirty="0"/>
              <a:t>• Ideal Answers</a:t>
            </a:r>
          </a:p>
          <a:p>
            <a:r>
              <a:rPr lang="en-US" sz="1600" dirty="0"/>
              <a:t>• Difficulty Labels</a:t>
            </a:r>
          </a:p>
          <a:p>
            <a:endParaRPr lang="en-US" sz="1600" dirty="0"/>
          </a:p>
          <a:p>
            <a:r>
              <a:rPr lang="en-US" sz="1600" dirty="0"/>
              <a:t>[ SME &amp; Compliance Validation ]</a:t>
            </a:r>
          </a:p>
          <a:p>
            <a:r>
              <a:rPr lang="en-US" sz="1600" dirty="0"/>
              <a:t>• Pre‑Approved Question Bank Check</a:t>
            </a:r>
          </a:p>
          <a:p>
            <a:r>
              <a:rPr lang="en-US" sz="1600" dirty="0"/>
              <a:t>• Governance &amp; Neutrality Filters</a:t>
            </a:r>
          </a:p>
          <a:p>
            <a:r>
              <a:rPr lang="en-US" sz="1600" dirty="0"/>
              <a:t>• Question Swap Mechanism</a:t>
            </a:r>
          </a:p>
          <a:p>
            <a:endParaRPr lang="en-US" sz="1600" dirty="0"/>
          </a:p>
          <a:p>
            <a:r>
              <a:rPr lang="en-US" sz="1600" dirty="0"/>
              <a:t>[ PDF Generator ]</a:t>
            </a:r>
          </a:p>
          <a:p>
            <a:r>
              <a:rPr lang="en-US" sz="1600" dirty="0"/>
              <a:t>• Final Interview Guide</a:t>
            </a:r>
          </a:p>
          <a:p>
            <a:r>
              <a:rPr lang="en-US" sz="1600" dirty="0"/>
              <a:t>• Standard + Probing Questions</a:t>
            </a:r>
          </a:p>
          <a:p>
            <a:r>
              <a:rPr lang="en-US" sz="1600" dirty="0"/>
              <a:t>• Ideal Answers</a:t>
            </a:r>
          </a:p>
          <a:p>
            <a:r>
              <a:rPr lang="en-US" sz="1600" dirty="0"/>
              <a:t>• Rubric (1–5 scoring across BAH dimensions)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F87FD2-D2EB-DB3A-FB0A-5518869F4242}"/>
              </a:ext>
            </a:extLst>
          </p:cNvPr>
          <p:cNvSpPr/>
          <p:nvPr/>
        </p:nvSpPr>
        <p:spPr>
          <a:xfrm>
            <a:off x="210208" y="2185006"/>
            <a:ext cx="4824245" cy="444740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83D80D-C988-3635-8AB6-A533AD997CC5}"/>
              </a:ext>
            </a:extLst>
          </p:cNvPr>
          <p:cNvCxnSpPr>
            <a:cxnSpLocks/>
          </p:cNvCxnSpPr>
          <p:nvPr/>
        </p:nvCxnSpPr>
        <p:spPr>
          <a:xfrm>
            <a:off x="4792718" y="1445172"/>
            <a:ext cx="167114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FB908C-A45A-CCDB-613C-1F4A523C3C7D}"/>
              </a:ext>
            </a:extLst>
          </p:cNvPr>
          <p:cNvCxnSpPr/>
          <p:nvPr/>
        </p:nvCxnSpPr>
        <p:spPr>
          <a:xfrm flipH="1">
            <a:off x="5034453" y="4603531"/>
            <a:ext cx="1429409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0515B2-5EB0-8EA3-8663-676AE6B89952}"/>
              </a:ext>
            </a:extLst>
          </p:cNvPr>
          <p:cNvSpPr txBox="1"/>
          <p:nvPr/>
        </p:nvSpPr>
        <p:spPr>
          <a:xfrm>
            <a:off x="263471" y="361192"/>
            <a:ext cx="4912963" cy="1477328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DATA SOURCES  </a:t>
            </a:r>
            <a:endParaRPr lang="en-US" dirty="0"/>
          </a:p>
          <a:p>
            <a:r>
              <a:rPr lang="en-US" dirty="0"/>
              <a:t>• Resume Files (PDF / DOCX / TXT)</a:t>
            </a:r>
          </a:p>
          <a:p>
            <a:r>
              <a:rPr lang="en-US" dirty="0"/>
              <a:t>• Job Descriptions (PDF / DOCX / TXT)</a:t>
            </a:r>
          </a:p>
          <a:p>
            <a:r>
              <a:rPr lang="en-US" dirty="0"/>
              <a:t>• Hiring Manager Inputs (BAH Level, Technical Category)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4B911-FDCC-D71D-F05F-4456DB60C22D}"/>
              </a:ext>
            </a:extLst>
          </p:cNvPr>
          <p:cNvSpPr txBox="1"/>
          <p:nvPr/>
        </p:nvSpPr>
        <p:spPr>
          <a:xfrm>
            <a:off x="6096000" y="325464"/>
            <a:ext cx="5713708" cy="1477328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INGESTION &amp; EXTRACTION</a:t>
            </a:r>
          </a:p>
          <a:p>
            <a:r>
              <a:rPr lang="en-US" dirty="0"/>
              <a:t>• File Parsers (PDF/DOCX/Text)</a:t>
            </a:r>
          </a:p>
          <a:p>
            <a:r>
              <a:rPr lang="en-US" dirty="0"/>
              <a:t>• Metadata Extractor</a:t>
            </a:r>
          </a:p>
          <a:p>
            <a:r>
              <a:rPr lang="en-US" dirty="0"/>
              <a:t>• Text Normalization Pipeline</a:t>
            </a:r>
          </a:p>
          <a:p>
            <a:r>
              <a:rPr lang="en-US" dirty="0"/>
              <a:t>• Section Detection (Skills, Experience, Projects)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B9C7E-5A5D-7322-7A35-451AA60167EE}"/>
              </a:ext>
            </a:extLst>
          </p:cNvPr>
          <p:cNvSpPr txBox="1"/>
          <p:nvPr/>
        </p:nvSpPr>
        <p:spPr>
          <a:xfrm>
            <a:off x="263471" y="2355742"/>
            <a:ext cx="4912964" cy="2031325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NLP PROCESSING LAYER  </a:t>
            </a:r>
          </a:p>
          <a:p>
            <a:r>
              <a:rPr lang="en-US" dirty="0"/>
              <a:t>• Resume Skill Extraction (NER / Pattern Models)</a:t>
            </a:r>
          </a:p>
          <a:p>
            <a:r>
              <a:rPr lang="en-US" dirty="0"/>
              <a:t>• JD Competency Extraction</a:t>
            </a:r>
          </a:p>
          <a:p>
            <a:r>
              <a:rPr lang="en-US" dirty="0"/>
              <a:t>• Experience Claim Extraction</a:t>
            </a:r>
          </a:p>
          <a:p>
            <a:r>
              <a:rPr lang="en-US" dirty="0"/>
              <a:t>• Embedding Generation (Skills, Competencies, Claims)</a:t>
            </a:r>
          </a:p>
          <a:p>
            <a:r>
              <a:rPr lang="en-US" dirty="0"/>
              <a:t>• Semantic Similarity 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98A48C-82E3-8902-4053-85A863C7F8C1}"/>
              </a:ext>
            </a:extLst>
          </p:cNvPr>
          <p:cNvSpPr txBox="1"/>
          <p:nvPr/>
        </p:nvSpPr>
        <p:spPr>
          <a:xfrm>
            <a:off x="6323308" y="2694210"/>
            <a:ext cx="5486400" cy="1477328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LOGIC &amp; MAPPING ENGINE  </a:t>
            </a:r>
          </a:p>
          <a:p>
            <a:r>
              <a:rPr lang="en-US" dirty="0"/>
              <a:t>• BAH Level → Difficulty Mapping</a:t>
            </a:r>
          </a:p>
          <a:p>
            <a:r>
              <a:rPr lang="en-US" dirty="0"/>
              <a:t>• Technical Category → Competency Mapping</a:t>
            </a:r>
          </a:p>
          <a:p>
            <a:r>
              <a:rPr lang="en-US" dirty="0"/>
              <a:t>• Resume Claims → Probing Question Triggers</a:t>
            </a:r>
          </a:p>
          <a:p>
            <a:r>
              <a:rPr lang="en-US" dirty="0"/>
              <a:t>• Data Validation &amp; Normalization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CF8613-9477-002F-B139-66983DE13CDF}"/>
              </a:ext>
            </a:extLst>
          </p:cNvPr>
          <p:cNvSpPr txBox="1"/>
          <p:nvPr/>
        </p:nvSpPr>
        <p:spPr>
          <a:xfrm>
            <a:off x="371959" y="4819973"/>
            <a:ext cx="5191933" cy="1754326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PROMPT CONSTRUCTION  </a:t>
            </a:r>
          </a:p>
          <a:p>
            <a:r>
              <a:rPr lang="en-US" dirty="0"/>
              <a:t>• Structured Prompt Assembly</a:t>
            </a:r>
          </a:p>
          <a:p>
            <a:r>
              <a:rPr lang="en-US" dirty="0"/>
              <a:t>• Inject: Skills, Competencies, Difficulty, Claims</a:t>
            </a:r>
          </a:p>
          <a:p>
            <a:r>
              <a:rPr lang="en-US" dirty="0"/>
              <a:t>• Apply Linguistic Neutrality Filters</a:t>
            </a:r>
          </a:p>
          <a:p>
            <a:r>
              <a:rPr lang="en-US" dirty="0"/>
              <a:t>• Apply Compliance Filters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54A0A1-A58E-3CAE-5D83-D62585AAC54F}"/>
              </a:ext>
            </a:extLst>
          </p:cNvPr>
          <p:cNvSpPr txBox="1"/>
          <p:nvPr/>
        </p:nvSpPr>
        <p:spPr>
          <a:xfrm>
            <a:off x="6281980" y="4387067"/>
            <a:ext cx="5233262" cy="1754326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LLM GENERATION LAYER </a:t>
            </a:r>
          </a:p>
          <a:p>
            <a:r>
              <a:rPr lang="en-US" dirty="0"/>
              <a:t>• Baseline Questions</a:t>
            </a:r>
          </a:p>
          <a:p>
            <a:r>
              <a:rPr lang="en-US" dirty="0"/>
              <a:t>• Probing Questions</a:t>
            </a:r>
          </a:p>
          <a:p>
            <a:r>
              <a:rPr lang="en-US" dirty="0"/>
              <a:t>• Ideal Answers</a:t>
            </a:r>
          </a:p>
          <a:p>
            <a:r>
              <a:rPr lang="en-US" dirty="0"/>
              <a:t>• Difficulty Labels</a:t>
            </a:r>
          </a:p>
          <a:p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AF8556-392A-903E-975C-902406BDB5D8}"/>
              </a:ext>
            </a:extLst>
          </p:cNvPr>
          <p:cNvCxnSpPr>
            <a:cxnSpLocks/>
          </p:cNvCxnSpPr>
          <p:nvPr/>
        </p:nvCxnSpPr>
        <p:spPr>
          <a:xfrm>
            <a:off x="5424407" y="1168381"/>
            <a:ext cx="671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5F4F2B-1D6C-AF52-A9C5-94996AAD1CC6}"/>
              </a:ext>
            </a:extLst>
          </p:cNvPr>
          <p:cNvCxnSpPr/>
          <p:nvPr/>
        </p:nvCxnSpPr>
        <p:spPr>
          <a:xfrm>
            <a:off x="8617058" y="1968285"/>
            <a:ext cx="0" cy="387457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7A94F84-8D61-77CA-A6B9-503D9A003DD6}"/>
              </a:ext>
            </a:extLst>
          </p:cNvPr>
          <p:cNvCxnSpPr>
            <a:cxnSpLocks/>
          </p:cNvCxnSpPr>
          <p:nvPr/>
        </p:nvCxnSpPr>
        <p:spPr>
          <a:xfrm flipH="1">
            <a:off x="5563892" y="3239146"/>
            <a:ext cx="53210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F02290-9E5B-159B-85F9-FAA9555DEFEF}"/>
              </a:ext>
            </a:extLst>
          </p:cNvPr>
          <p:cNvCxnSpPr>
            <a:stCxn id="17" idx="2"/>
          </p:cNvCxnSpPr>
          <p:nvPr/>
        </p:nvCxnSpPr>
        <p:spPr>
          <a:xfrm>
            <a:off x="2719953" y="4387067"/>
            <a:ext cx="23247" cy="432906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E2A837-0A81-C8AE-D80E-11849237EB7D}"/>
              </a:ext>
            </a:extLst>
          </p:cNvPr>
          <p:cNvCxnSpPr>
            <a:cxnSpLocks/>
          </p:cNvCxnSpPr>
          <p:nvPr/>
        </p:nvCxnSpPr>
        <p:spPr>
          <a:xfrm>
            <a:off x="5563892" y="5315919"/>
            <a:ext cx="53210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B24550-6305-388D-8446-EFEB56EE6D67}"/>
              </a:ext>
            </a:extLst>
          </p:cNvPr>
          <p:cNvCxnSpPr/>
          <p:nvPr/>
        </p:nvCxnSpPr>
        <p:spPr>
          <a:xfrm>
            <a:off x="8338088" y="6292312"/>
            <a:ext cx="0" cy="418454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6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09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E0D8-33A1-A1FC-4FAB-DD36F10B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EC5B81-DC37-9CFA-3473-2459528C1EB4}"/>
              </a:ext>
            </a:extLst>
          </p:cNvPr>
          <p:cNvSpPr txBox="1"/>
          <p:nvPr/>
        </p:nvSpPr>
        <p:spPr>
          <a:xfrm>
            <a:off x="263471" y="361192"/>
            <a:ext cx="4912963" cy="1477328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DATA SOURCES  </a:t>
            </a:r>
            <a:endParaRPr lang="en-US" dirty="0"/>
          </a:p>
          <a:p>
            <a:r>
              <a:rPr lang="en-US" dirty="0"/>
              <a:t>• Resume Files (PDF / DOCX / TXT)</a:t>
            </a:r>
          </a:p>
          <a:p>
            <a:r>
              <a:rPr lang="en-US" dirty="0"/>
              <a:t>• Job Descriptions (PDF / DOCX / TXT)</a:t>
            </a:r>
          </a:p>
          <a:p>
            <a:r>
              <a:rPr lang="en-US" dirty="0"/>
              <a:t>• Hiring Manager Inputs (BAH Level, Technical Category)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7B45D-E762-F81F-B51E-14A3C399086A}"/>
              </a:ext>
            </a:extLst>
          </p:cNvPr>
          <p:cNvSpPr txBox="1"/>
          <p:nvPr/>
        </p:nvSpPr>
        <p:spPr>
          <a:xfrm>
            <a:off x="6096000" y="325464"/>
            <a:ext cx="5713708" cy="1477328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INGESTION &amp; EXTRACTION</a:t>
            </a:r>
          </a:p>
          <a:p>
            <a:r>
              <a:rPr lang="en-US" dirty="0"/>
              <a:t>• File Parsers (PDF/DOCX/Text)</a:t>
            </a:r>
          </a:p>
          <a:p>
            <a:r>
              <a:rPr lang="en-US" dirty="0"/>
              <a:t>• Metadata Extractor</a:t>
            </a:r>
          </a:p>
          <a:p>
            <a:r>
              <a:rPr lang="en-US" dirty="0"/>
              <a:t>• Text Normalization Pipeline</a:t>
            </a:r>
          </a:p>
          <a:p>
            <a:r>
              <a:rPr lang="en-US" dirty="0"/>
              <a:t>• Section Detection (Skills, Experience, Projects)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3250C-182B-D67A-7429-131C02D24CCA}"/>
              </a:ext>
            </a:extLst>
          </p:cNvPr>
          <p:cNvSpPr txBox="1"/>
          <p:nvPr/>
        </p:nvSpPr>
        <p:spPr>
          <a:xfrm>
            <a:off x="263471" y="2355742"/>
            <a:ext cx="4912964" cy="2031325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NLP PROCESSING LAYER  </a:t>
            </a:r>
          </a:p>
          <a:p>
            <a:r>
              <a:rPr lang="en-US" dirty="0"/>
              <a:t>• Resume Skill Extraction (NER / Pattern Models)</a:t>
            </a:r>
          </a:p>
          <a:p>
            <a:r>
              <a:rPr lang="en-US" dirty="0"/>
              <a:t>• JD Competency Extraction</a:t>
            </a:r>
          </a:p>
          <a:p>
            <a:r>
              <a:rPr lang="en-US" dirty="0"/>
              <a:t>• Experience Claim Extraction</a:t>
            </a:r>
          </a:p>
          <a:p>
            <a:r>
              <a:rPr lang="en-US" dirty="0"/>
              <a:t>• Embedding Generation (Skills, Competencies, Claims)</a:t>
            </a:r>
          </a:p>
          <a:p>
            <a:r>
              <a:rPr lang="en-US" dirty="0"/>
              <a:t>• Semantic Similarity 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1F3EB2-1898-B60D-F1F6-66A34A91241A}"/>
              </a:ext>
            </a:extLst>
          </p:cNvPr>
          <p:cNvSpPr txBox="1"/>
          <p:nvPr/>
        </p:nvSpPr>
        <p:spPr>
          <a:xfrm>
            <a:off x="6323308" y="2694210"/>
            <a:ext cx="5486400" cy="1477328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LOGIC &amp; MAPPING ENGINE  </a:t>
            </a:r>
          </a:p>
          <a:p>
            <a:r>
              <a:rPr lang="en-US" dirty="0"/>
              <a:t>• BAH Level → Difficulty Mapping</a:t>
            </a:r>
          </a:p>
          <a:p>
            <a:r>
              <a:rPr lang="en-US" dirty="0"/>
              <a:t>• Technical Category → Competency Mapping</a:t>
            </a:r>
          </a:p>
          <a:p>
            <a:r>
              <a:rPr lang="en-US" dirty="0"/>
              <a:t>• Resume Claims → Probing Question Triggers</a:t>
            </a:r>
          </a:p>
          <a:p>
            <a:r>
              <a:rPr lang="en-US" dirty="0"/>
              <a:t>• Data Validation &amp; Normalization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6AEED0-74F0-F349-6A13-018CEDEE9477}"/>
              </a:ext>
            </a:extLst>
          </p:cNvPr>
          <p:cNvSpPr txBox="1"/>
          <p:nvPr/>
        </p:nvSpPr>
        <p:spPr>
          <a:xfrm>
            <a:off x="371959" y="4819973"/>
            <a:ext cx="5191933" cy="1754326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PROMPT CONSTRUCTION  </a:t>
            </a:r>
          </a:p>
          <a:p>
            <a:r>
              <a:rPr lang="en-US" dirty="0"/>
              <a:t>• Structured Prompt Assembly</a:t>
            </a:r>
          </a:p>
          <a:p>
            <a:r>
              <a:rPr lang="en-US" dirty="0"/>
              <a:t>• Inject: Skills, Competencies, Difficulty, Claims</a:t>
            </a:r>
          </a:p>
          <a:p>
            <a:r>
              <a:rPr lang="en-US" dirty="0"/>
              <a:t>• Apply Linguistic Neutrality Filters</a:t>
            </a:r>
          </a:p>
          <a:p>
            <a:r>
              <a:rPr lang="en-US" dirty="0"/>
              <a:t>• Apply Compliance Filters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04255A-9DEC-7815-CB43-80AC9A04A128}"/>
              </a:ext>
            </a:extLst>
          </p:cNvPr>
          <p:cNvSpPr txBox="1"/>
          <p:nvPr/>
        </p:nvSpPr>
        <p:spPr>
          <a:xfrm>
            <a:off x="6323308" y="4679675"/>
            <a:ext cx="5233262" cy="1754326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LLM GENERATION LAYER </a:t>
            </a:r>
          </a:p>
          <a:p>
            <a:r>
              <a:rPr lang="en-US" dirty="0"/>
              <a:t>• Baseline Questions</a:t>
            </a:r>
          </a:p>
          <a:p>
            <a:r>
              <a:rPr lang="en-US" dirty="0"/>
              <a:t>• Probing Questions</a:t>
            </a:r>
          </a:p>
          <a:p>
            <a:r>
              <a:rPr lang="en-US" dirty="0"/>
              <a:t>• Ideal Answers</a:t>
            </a:r>
          </a:p>
          <a:p>
            <a:r>
              <a:rPr lang="en-US" dirty="0"/>
              <a:t>• Difficulty Labels</a:t>
            </a:r>
          </a:p>
          <a:p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9A5D59-0429-1085-8250-EB8CE025B39E}"/>
              </a:ext>
            </a:extLst>
          </p:cNvPr>
          <p:cNvCxnSpPr>
            <a:cxnSpLocks/>
          </p:cNvCxnSpPr>
          <p:nvPr/>
        </p:nvCxnSpPr>
        <p:spPr>
          <a:xfrm>
            <a:off x="5346967" y="1195813"/>
            <a:ext cx="671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9C75A7-533B-2303-77C9-6CA2805655E2}"/>
              </a:ext>
            </a:extLst>
          </p:cNvPr>
          <p:cNvCxnSpPr/>
          <p:nvPr/>
        </p:nvCxnSpPr>
        <p:spPr>
          <a:xfrm>
            <a:off x="8617058" y="1968285"/>
            <a:ext cx="0" cy="387457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E02FF26-686F-98A1-8FBB-D6E5F9D09574}"/>
              </a:ext>
            </a:extLst>
          </p:cNvPr>
          <p:cNvCxnSpPr>
            <a:cxnSpLocks/>
          </p:cNvCxnSpPr>
          <p:nvPr/>
        </p:nvCxnSpPr>
        <p:spPr>
          <a:xfrm flipH="1">
            <a:off x="5416710" y="3275722"/>
            <a:ext cx="67929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5FD534-0356-0F54-8EBE-77B2648DDCC0}"/>
              </a:ext>
            </a:extLst>
          </p:cNvPr>
          <p:cNvCxnSpPr>
            <a:stCxn id="17" idx="2"/>
          </p:cNvCxnSpPr>
          <p:nvPr/>
        </p:nvCxnSpPr>
        <p:spPr>
          <a:xfrm>
            <a:off x="2719953" y="4387067"/>
            <a:ext cx="23247" cy="432906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3D740F-7F01-170B-FD19-661403716BFD}"/>
              </a:ext>
            </a:extLst>
          </p:cNvPr>
          <p:cNvCxnSpPr>
            <a:cxnSpLocks/>
          </p:cNvCxnSpPr>
          <p:nvPr/>
        </p:nvCxnSpPr>
        <p:spPr>
          <a:xfrm>
            <a:off x="5682764" y="5352495"/>
            <a:ext cx="53210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0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791FB-7EF5-1B96-AFF1-F7F93BCCF6DB}"/>
              </a:ext>
            </a:extLst>
          </p:cNvPr>
          <p:cNvSpPr txBox="1"/>
          <p:nvPr/>
        </p:nvSpPr>
        <p:spPr>
          <a:xfrm>
            <a:off x="5882291" y="925621"/>
            <a:ext cx="4057235" cy="923330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VALIDATION &amp; GOVERNANCE LAYER </a:t>
            </a:r>
          </a:p>
          <a:p>
            <a:r>
              <a:rPr lang="en-US" dirty="0"/>
              <a:t>• SME‑Approved Question Bank</a:t>
            </a:r>
          </a:p>
          <a:p>
            <a:r>
              <a:rPr lang="en-US" dirty="0"/>
              <a:t>• Question Swap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2D202-B5F0-B1DE-B905-E44B5A635B11}"/>
              </a:ext>
            </a:extLst>
          </p:cNvPr>
          <p:cNvSpPr txBox="1"/>
          <p:nvPr/>
        </p:nvSpPr>
        <p:spPr>
          <a:xfrm>
            <a:off x="5803340" y="2413337"/>
            <a:ext cx="4428784" cy="2031325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OUTPUT DATA </a:t>
            </a:r>
          </a:p>
          <a:p>
            <a:r>
              <a:rPr lang="en-US" dirty="0"/>
              <a:t>• Final Question Set (Standard + Probing)</a:t>
            </a:r>
          </a:p>
          <a:p>
            <a:r>
              <a:rPr lang="en-US" dirty="0"/>
              <a:t>• Ideal Answers</a:t>
            </a:r>
          </a:p>
          <a:p>
            <a:r>
              <a:rPr lang="en-US" dirty="0"/>
              <a:t>• Difficulty Metadata</a:t>
            </a:r>
          </a:p>
          <a:p>
            <a:r>
              <a:rPr lang="en-US" dirty="0"/>
              <a:t>• Rubric (1–5 scoring across BAH dimensions)</a:t>
            </a:r>
          </a:p>
          <a:p>
            <a:r>
              <a:rPr lang="en-US" dirty="0"/>
              <a:t>• Final PDF Interview Guide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FA3A67-2322-D9F4-8E92-84AA61F023BB}"/>
              </a:ext>
            </a:extLst>
          </p:cNvPr>
          <p:cNvCxnSpPr>
            <a:cxnSpLocks/>
          </p:cNvCxnSpPr>
          <p:nvPr/>
        </p:nvCxnSpPr>
        <p:spPr>
          <a:xfrm>
            <a:off x="8275173" y="338690"/>
            <a:ext cx="0" cy="429406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78F01B-9AAD-4A3B-742A-7C4FA9537143}"/>
              </a:ext>
            </a:extLst>
          </p:cNvPr>
          <p:cNvCxnSpPr>
            <a:cxnSpLocks/>
          </p:cNvCxnSpPr>
          <p:nvPr/>
        </p:nvCxnSpPr>
        <p:spPr>
          <a:xfrm>
            <a:off x="8201874" y="1931837"/>
            <a:ext cx="0" cy="409027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56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D9B9FF-4604-9FF2-6846-FCCBB4F6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2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9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A9877E-D267-B453-15F0-7F0E4CF5B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 ┌────────────────────────────────────────┐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 │          Inputs to AI Layer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 │  • Resume (PDF/DOCX/TXT)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 │  • Job Description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 │  • Selected BAH Level &amp; Tech Category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 └────────────────────────────────────────┘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1. NLP Extraction Layer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Parse documents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Extract claimed skills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Extract experience clues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2. Logic Mapping Layer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Map BAH level → competencies│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Map tech category → topics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Set difficulty (Easy/Med/Hard)│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3. Retrieval Layer (RAG)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Search pre-approved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   question bank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Pull relevant examples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4. Prompt Builder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Build structured prompt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Insert: competencies, skills│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   JD highlights, difficulty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5. LLM Generation (Llama)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Baseline questions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Probing questions (resume)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Ideal answers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6. Safety &amp; Compliance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Remove PII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Gender-neutral language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Remove coded words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7. Validation &amp; SME Review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Ensure coverage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Managers can swap questions│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 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┌──────────────────────────────┐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8. Final Output 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Structured PDF   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Questions + Ideal Answers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Difficulty labels 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│ • Rubric (1–5 scale)         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 └──────────────────────────────┘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2807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28FE577711304D9AF2951FEA30CA36" ma:contentTypeVersion="5" ma:contentTypeDescription="Create a new document." ma:contentTypeScope="" ma:versionID="c233ba495a3c5708a063384d21e33edd">
  <xsd:schema xmlns:xsd="http://www.w3.org/2001/XMLSchema" xmlns:xs="http://www.w3.org/2001/XMLSchema" xmlns:p="http://schemas.microsoft.com/office/2006/metadata/properties" xmlns:ns3="505d2487-9602-4dc4-9bec-8cf774f8b010" targetNamespace="http://schemas.microsoft.com/office/2006/metadata/properties" ma:root="true" ma:fieldsID="4d0069900ff84497b6d260d95b31f0db" ns3:_="">
    <xsd:import namespace="505d2487-9602-4dc4-9bec-8cf774f8b0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d2487-9602-4dc4-9bec-8cf774f8b0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05d2487-9602-4dc4-9bec-8cf774f8b010" xsi:nil="true"/>
  </documentManagement>
</p:properties>
</file>

<file path=customXml/itemProps1.xml><?xml version="1.0" encoding="utf-8"?>
<ds:datastoreItem xmlns:ds="http://schemas.openxmlformats.org/officeDocument/2006/customXml" ds:itemID="{74705507-0F2B-4D07-8F31-59B0324877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17A6C4-4E2F-4481-AC51-4C3AD64D6A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5d2487-9602-4dc4-9bec-8cf774f8b0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AC34D9-C813-46D8-B26E-E3FD425FA9BD}">
  <ds:schemaRefs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microsoft.com/office/2006/documentManagement/types"/>
    <ds:schemaRef ds:uri="505d2487-9602-4dc4-9bec-8cf774f8b010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3de9faa6-9fe1-49b3-9a08-227a296b54a6}" enabled="1" method="Privileged" siteId="{66d73691-ea97-48b1-95d5-e94f0a46b87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872</Words>
  <Application>Microsoft Office PowerPoint</Application>
  <PresentationFormat>Widescreen</PresentationFormat>
  <Paragraphs>178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ArunJit [USA]</dc:creator>
  <cp:lastModifiedBy>Singh, ArunJit [USA]</cp:lastModifiedBy>
  <cp:revision>4</cp:revision>
  <dcterms:created xsi:type="dcterms:W3CDTF">2026-04-30T17:20:32Z</dcterms:created>
  <dcterms:modified xsi:type="dcterms:W3CDTF">2026-05-22T15:44:27Z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0x0101006A28FE577711304D9AF2951FEA30CA36</vt:lpwstr>
  </property>
</Properties>
</file>